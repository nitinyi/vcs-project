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6350" cap="flat">
              <a:solidFill>
                <a:srgbClr val="000000"/>
              </a:solidFill>
              <a:prstDash val="solid"/>
              <a:miter lim="800000"/>
            </a:ln>
          </a:left>
          <a:right>
            <a:ln w="6350" cap="flat">
              <a:solidFill>
                <a:srgbClr val="000000"/>
              </a:solidFill>
              <a:prstDash val="solid"/>
              <a:miter lim="8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6350" cap="flat">
              <a:solidFill>
                <a:srgbClr val="000000"/>
              </a:solidFill>
              <a:prstDash val="solid"/>
              <a:miter lim="8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" cap="flat">
              <a:solidFill>
                <a:srgbClr val="000000"/>
              </a:solidFill>
              <a:prstDash val="solid"/>
              <a:miter lim="800000"/>
            </a:ln>
          </a:top>
          <a:bottom>
            <a:ln w="6350" cap="flat">
              <a:solidFill>
                <a:srgbClr val="000000"/>
              </a:solidFill>
              <a:prstDash val="solid"/>
              <a:miter lim="8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000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0DEEF"/>
          </a:solidFill>
        </a:fill>
      </a:tcStyle>
    </a:wholeTbl>
    <a:band2H>
      <a:tcTxStyle b="def" i="def"/>
      <a:tcStyle>
        <a:tcBdr/>
        <a:fill>
          <a:solidFill>
            <a:srgbClr val="E9EFF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10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8" name="Shape 10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524000" y="3602037"/>
            <a:ext cx="9144000" cy="1655764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0" algn="ctr">
              <a:buSzTx/>
              <a:buFontTx/>
              <a:buNone/>
              <a:defRPr sz="2400"/>
            </a:lvl2pPr>
            <a:lvl3pPr marL="0" indent="0" algn="ctr">
              <a:buSzTx/>
              <a:buFontTx/>
              <a:buNone/>
              <a:defRPr sz="2400"/>
            </a:lvl3pPr>
            <a:lvl4pPr marL="0" indent="0" algn="ctr">
              <a:buSzTx/>
              <a:buFontTx/>
              <a:buNone/>
              <a:defRPr sz="2400"/>
            </a:lvl4pPr>
            <a:lvl5pPr marL="0" indent="0" algn="ctr">
              <a:buSzTx/>
              <a:buFontTx/>
              <a:buNone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831850" y="4589462"/>
            <a:ext cx="10515600" cy="1500189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839787" y="1681163"/>
            <a:ext cx="5157790" cy="823914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b="1" sz="2400"/>
            </a:lvl1pPr>
            <a:lvl2pPr marL="0" indent="0">
              <a:buSzTx/>
              <a:buFontTx/>
              <a:buNone/>
              <a:defRPr b="1" sz="2400"/>
            </a:lvl2pPr>
            <a:lvl3pPr marL="0" indent="0">
              <a:buSzTx/>
              <a:buFontTx/>
              <a:buNone/>
              <a:defRPr b="1" sz="2400"/>
            </a:lvl3pPr>
            <a:lvl4pPr marL="0" indent="0">
              <a:buSzTx/>
              <a:buFontTx/>
              <a:buNone/>
              <a:defRPr b="1" sz="2400"/>
            </a:lvl4pPr>
            <a:lvl5pPr marL="0" indent="0"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6172200" y="1681163"/>
            <a:ext cx="5183188" cy="823914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839787" y="457200"/>
            <a:ext cx="3932240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5183187" y="987425"/>
            <a:ext cx="6172202" cy="487362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839787" y="2057400"/>
            <a:ext cx="3932240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0">
              <a:buSzTx/>
              <a:buFontTx/>
              <a:buNone/>
              <a:defRPr sz="1600"/>
            </a:lvl2pPr>
            <a:lvl3pPr marL="0" indent="0">
              <a:buSzTx/>
              <a:buFontTx/>
              <a:buNone/>
              <a:defRPr sz="1600"/>
            </a:lvl3pPr>
            <a:lvl4pPr marL="0" indent="0">
              <a:buSzTx/>
              <a:buFontTx/>
              <a:buNone/>
              <a:defRPr sz="1600"/>
            </a:lvl4pPr>
            <a:lvl5pPr marL="0" indent="0">
              <a:buSzTx/>
              <a:buFontTx/>
              <a:buNone/>
              <a:defRPr sz="16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ITLE"/>
          <p:cNvSpPr txBox="1"/>
          <p:nvPr>
            <p:ph type="title" hasCustomPrompt="1"/>
          </p:nvPr>
        </p:nvSpPr>
        <p:spPr>
          <a:xfrm>
            <a:off x="0" y="2275826"/>
            <a:ext cx="12192000" cy="564912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333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TITLE</a:t>
            </a:r>
          </a:p>
        </p:txBody>
      </p:sp>
      <p:sp>
        <p:nvSpPr>
          <p:cNvPr id="9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EPARATOR"/>
          <p:cNvSpPr txBox="1"/>
          <p:nvPr>
            <p:ph type="title" hasCustomPrompt="1"/>
          </p:nvPr>
        </p:nvSpPr>
        <p:spPr>
          <a:xfrm>
            <a:off x="0" y="2275826"/>
            <a:ext cx="12192000" cy="564912"/>
          </a:xfrm>
          <a:prstGeom prst="rect">
            <a:avLst/>
          </a:prstGeom>
        </p:spPr>
        <p:txBody>
          <a:bodyPr/>
          <a:lstStyle>
            <a:lvl1pPr algn="ctr">
              <a:defRPr sz="3600">
                <a:solidFill>
                  <a:srgbClr val="333F50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SEPARATOR</a:t>
            </a:r>
          </a:p>
        </p:txBody>
      </p:sp>
      <p:sp>
        <p:nvSpPr>
          <p:cNvPr id="10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blipFill rotWithShape="1">
          <a:blip r:embed="rId2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095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28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4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4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3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08080">
              <a:alpha val="30000"/>
            </a:srgb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1" name="Rectangle 46"/>
          <p:cNvSpPr/>
          <p:nvPr/>
        </p:nvSpPr>
        <p:spPr>
          <a:xfrm>
            <a:off x="477010" y="480060"/>
            <a:ext cx="11237980" cy="589788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  <a:effectLst>
            <a:outerShdw sx="100000" sy="100000" kx="0" ky="0" algn="b" rotWithShape="0" blurRad="63500" dist="17780" dir="5400000">
              <a:srgbClr val="000000">
                <a:alpha val="43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12" name="Picture 31" descr="Picture 3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643467" y="2396527"/>
            <a:ext cx="5294716" cy="2064941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Straight Connector 47"/>
          <p:cNvSpPr/>
          <p:nvPr/>
        </p:nvSpPr>
        <p:spPr>
          <a:xfrm flipH="1">
            <a:off x="6079957" y="1143000"/>
            <a:ext cx="1" cy="4572000"/>
          </a:xfrm>
          <a:prstGeom prst="line">
            <a:avLst/>
          </a:prstGeom>
          <a:ln w="6350">
            <a:solidFill>
              <a:srgbClr val="4E4E4E"/>
            </a:solidFill>
            <a:miter/>
          </a:ln>
        </p:spPr>
        <p:txBody>
          <a:bodyPr lIns="45718" tIns="45718" rIns="45718" bIns="45718"/>
          <a:lstStyle/>
          <a:p>
            <a:pPr/>
          </a:p>
        </p:txBody>
      </p:sp>
      <p:pic>
        <p:nvPicPr>
          <p:cNvPr id="114" name="Content Placeholder 29" descr="Content Placeholder 29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253817" y="1959717"/>
            <a:ext cx="5294717" cy="29385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itle 1"/>
          <p:cNvSpPr txBox="1"/>
          <p:nvPr>
            <p:ph type="title"/>
          </p:nvPr>
        </p:nvSpPr>
        <p:spPr>
          <a:xfrm>
            <a:off x="0" y="910934"/>
            <a:ext cx="12192000" cy="5740879"/>
          </a:xfrm>
          <a:prstGeom prst="rect">
            <a:avLst/>
          </a:prstGeom>
        </p:spPr>
        <p:txBody>
          <a:bodyPr/>
          <a:lstStyle/>
          <a:p>
            <a:pPr>
              <a:lnSpc>
                <a:spcPct val="150000"/>
              </a:lnSpc>
              <a:defRPr b="1"/>
            </a:pPr>
            <a:r>
              <a:t>Course Content Version Control</a:t>
            </a:r>
            <a:br/>
            <a:br/>
            <a:r>
              <a:rPr b="0"/>
              <a:t>Managing educational content using Git and GitHub</a:t>
            </a:r>
          </a:p>
        </p:txBody>
      </p:sp>
      <p:sp>
        <p:nvSpPr>
          <p:cNvPr id="117" name="Title 1"/>
          <p:cNvSpPr txBox="1"/>
          <p:nvPr/>
        </p:nvSpPr>
        <p:spPr>
          <a:xfrm>
            <a:off x="9298361" y="5189589"/>
            <a:ext cx="2847922" cy="10864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 algn="ctr" defTabSz="457189">
              <a:lnSpc>
                <a:spcPct val="80000"/>
              </a:lnSpc>
              <a:defRPr b="1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Project Guide</a:t>
            </a:r>
            <a:endParaRPr sz="2700"/>
          </a:p>
          <a:p>
            <a:pPr algn="ctr" defTabSz="457189">
              <a:lnSpc>
                <a:spcPct val="80000"/>
              </a:lnSpc>
              <a:defRPr b="1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Ms. Ishita Tandon</a:t>
            </a:r>
            <a:endParaRPr sz="2700"/>
          </a:p>
          <a:p>
            <a:pPr algn="just" defTabSz="457189">
              <a:lnSpc>
                <a:spcPct val="80000"/>
              </a:lnSpc>
              <a:defRPr b="1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Assistant Professor, Data &amp; Infra</a:t>
            </a:r>
            <a:endParaRPr sz="2700"/>
          </a:p>
          <a:p>
            <a:pPr algn="ctr" defTabSz="457189">
              <a:lnSpc>
                <a:spcPct val="80000"/>
              </a:lnSpc>
              <a:defRPr b="1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GROUP-9 | payal911tech</a:t>
            </a:r>
            <a:endParaRPr sz="2700"/>
          </a:p>
          <a:p>
            <a:pPr algn="ctr" defTabSz="457189">
              <a:lnSpc>
                <a:spcPct val="80000"/>
              </a:lnSpc>
              <a:defRPr b="1" sz="15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(SoCS)</a:t>
            </a:r>
          </a:p>
        </p:txBody>
      </p:sp>
      <p:pic>
        <p:nvPicPr>
          <p:cNvPr id="118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085813" y="6276004"/>
            <a:ext cx="1496136" cy="5819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Team Members &amp; Role</a:t>
            </a:r>
          </a:p>
        </p:txBody>
      </p:sp>
      <p:graphicFrame>
        <p:nvGraphicFramePr>
          <p:cNvPr id="121" name="Content Placeholder 3"/>
          <p:cNvGraphicFramePr/>
          <p:nvPr/>
        </p:nvGraphicFramePr>
        <p:xfrm>
          <a:off x="838200" y="2225038"/>
          <a:ext cx="10515597" cy="341376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3505198"/>
                <a:gridCol w="3505198"/>
                <a:gridCol w="3505198"/>
              </a:tblGrid>
              <a:tr h="56896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ym typeface="Helvetica"/>
                        </a:rPr>
                        <a:t>S.No.</a:t>
                      </a:r>
                    </a:p>
                  </a:txBody>
                  <a:tcPr marL="45720" marR="45720" marT="45720" marB="45720" anchor="t" anchorCtr="0" horzOverflow="overflow">
                    <a:lnT w="12700">
                      <a:solidFill>
                        <a:schemeClr val="accent3"/>
                      </a:solidFill>
                    </a:lnT>
                    <a:lnB w="12700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ym typeface="Helvetica"/>
                        </a:rPr>
                        <a:t>Team Members</a:t>
                      </a:r>
                    </a:p>
                  </a:txBody>
                  <a:tcPr marL="45720" marR="45720" marT="45720" marB="45720" anchor="t" anchorCtr="0" horzOverflow="overflow">
                    <a:lnT w="12700">
                      <a:solidFill>
                        <a:schemeClr val="accent3"/>
                      </a:solidFill>
                    </a:lnT>
                    <a:lnB w="12700">
                      <a:solidFill>
                        <a:schemeClr val="accent3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>
                          <a:sym typeface="Helvetica"/>
                        </a:rPr>
                        <a:t>Role</a:t>
                      </a:r>
                    </a:p>
                  </a:txBody>
                  <a:tcPr marL="45720" marR="45720" marT="45720" marB="45720" anchor="t" anchorCtr="0" horzOverflow="overflow">
                    <a:lnT w="12700">
                      <a:solidFill>
                        <a:schemeClr val="accent3"/>
                      </a:solidFill>
                    </a:lnT>
                    <a:lnB w="12700">
                      <a:solidFill>
                        <a:schemeClr val="accent3"/>
                      </a:solidFill>
                    </a:lnB>
                    <a:noFill/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Helvetica"/>
                        </a:rPr>
                        <a:t>1.</a:t>
                      </a:r>
                    </a:p>
                  </a:txBody>
                  <a:tcPr marL="45720" marR="45720" marT="45720" marB="45720" anchor="t" anchorCtr="0" horzOverflow="overflow">
                    <a:lnT w="12700">
                      <a:solidFill>
                        <a:schemeClr val="accent3"/>
                      </a:solidFill>
                    </a:lnT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Helvetica"/>
                        </a:rPr>
                        <a:t>Nitin Yadav</a:t>
                      </a:r>
                    </a:p>
                  </a:txBody>
                  <a:tcPr marL="45720" marR="45720" marT="45720" marB="45720" anchor="t" anchorCtr="0" horzOverflow="overflow">
                    <a:lnT w="12700">
                      <a:solidFill>
                        <a:schemeClr val="accent3"/>
                      </a:solidFill>
                    </a:lnT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Helvetica"/>
                        </a:rPr>
                        <a:t>Developer</a:t>
                      </a:r>
                    </a:p>
                  </a:txBody>
                  <a:tcPr marL="45720" marR="45720" marT="45720" marB="45720" anchor="t" anchorCtr="0" horzOverflow="overflow">
                    <a:lnT w="12700">
                      <a:solidFill>
                        <a:schemeClr val="accent3"/>
                      </a:solidFill>
                    </a:lnT>
                    <a:solidFill>
                      <a:schemeClr val="accent3">
                        <a:alpha val="20000"/>
                      </a:schemeClr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Helvetica"/>
                        </a:rPr>
                        <a:t>2.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Helvetica"/>
                        </a:rPr>
                        <a:t>Parth Saraswat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Helvetica"/>
                        </a:rPr>
                        <a:t>Documentation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Helvetica"/>
                        </a:rPr>
                        <a:t>3.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Helvetica"/>
                        </a:rPr>
                        <a:t>Payal Yadav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Helvetica"/>
                        </a:rPr>
                        <a:t>Presentation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chemeClr val="accent3">
                        <a:alpha val="20000"/>
                      </a:schemeClr>
                    </a:solidFill>
                  </a:tcPr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Helvetica"/>
                        </a:rPr>
                        <a:t>4.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Helvetica"/>
                        </a:rPr>
                        <a:t>Prisha Singh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Helvetica"/>
                        </a:rPr>
                        <a:t>Tester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5689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Helvetica"/>
                        </a:rPr>
                        <a:t>5.</a:t>
                      </a:r>
                    </a:p>
                  </a:txBody>
                  <a:tcPr marL="45720" marR="45720" marT="45720" marB="45720" anchor="t" anchorCtr="0" horzOverflow="overflow">
                    <a:lnB w="12700">
                      <a:solidFill>
                        <a:schemeClr val="accent3"/>
                      </a:solidFill>
                    </a:lnB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Helvetica"/>
                        </a:rPr>
                        <a:t>Rachit</a:t>
                      </a:r>
                    </a:p>
                  </a:txBody>
                  <a:tcPr marL="45720" marR="45720" marT="45720" marB="45720" anchor="t" anchorCtr="0" horzOverflow="overflow">
                    <a:lnB w="12700">
                      <a:solidFill>
                        <a:schemeClr val="accent3"/>
                      </a:solidFill>
                    </a:lnB>
                    <a:solidFill>
                      <a:schemeClr val="accent3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>
                          <a:sym typeface="Helvetica"/>
                        </a:rPr>
                        <a:t>Documentation </a:t>
                      </a:r>
                    </a:p>
                  </a:txBody>
                  <a:tcPr marL="45720" marR="45720" marT="45720" marB="45720" anchor="t" anchorCtr="0" horzOverflow="overflow">
                    <a:lnB w="12700">
                      <a:solidFill>
                        <a:schemeClr val="accent3"/>
                      </a:solidFill>
                    </a:lnB>
                    <a:solidFill>
                      <a:schemeClr val="accent3">
                        <a:alpha val="20000"/>
                      </a:schemeClr>
                    </a:solidFill>
                  </a:tcPr>
                </a:tc>
              </a:tr>
            </a:tbl>
          </a:graphicData>
        </a:graphic>
      </p:graphicFrame>
      <p:pic>
        <p:nvPicPr>
          <p:cNvPr id="122" name="Picture 4" descr="Picture 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22694" y="6276004"/>
            <a:ext cx="1496136" cy="5819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itle 1"/>
          <p:cNvSpPr txBox="1"/>
          <p:nvPr>
            <p:ph type="title"/>
          </p:nvPr>
        </p:nvSpPr>
        <p:spPr>
          <a:xfrm>
            <a:off x="838200" y="151765"/>
            <a:ext cx="10515600" cy="1325563"/>
          </a:xfrm>
          <a:prstGeom prst="rect">
            <a:avLst/>
          </a:prstGeom>
        </p:spPr>
        <p:txBody>
          <a:bodyPr/>
          <a:lstStyle>
            <a:lvl1pPr algn="ctr">
              <a:defRPr b="1"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125" name="Content Placeholder 2"/>
          <p:cNvSpPr txBox="1"/>
          <p:nvPr>
            <p:ph type="body" idx="1"/>
          </p:nvPr>
        </p:nvSpPr>
        <p:spPr>
          <a:xfrm>
            <a:off x="838200" y="1673225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defRPr b="1" sz="1800"/>
            </a:pPr>
            <a:r>
              <a:t>What is this project?</a:t>
            </a:r>
          </a:p>
          <a:p>
            <a:pPr>
              <a:defRPr sz="1600"/>
            </a:pPr>
            <a:r>
              <a:t>This project applies version control to educational course content using Git and GitHub.</a:t>
            </a:r>
          </a:p>
          <a:p>
            <a:pPr/>
            <a:endParaRPr sz="1600"/>
          </a:p>
          <a:p>
            <a:pPr>
              <a:defRPr b="1" sz="1800"/>
            </a:pPr>
            <a:r>
              <a:t>Why it matters?</a:t>
            </a:r>
          </a:p>
          <a:p>
            <a:pPr>
              <a:defRPr sz="1600"/>
            </a:pPr>
            <a:r>
              <a:t>Course content changes frequently. Without version control, it is hard to track who changed what or collaborate with other instructors.</a:t>
            </a:r>
          </a:p>
          <a:p>
            <a:pPr/>
            <a:endParaRPr sz="1600"/>
          </a:p>
          <a:p>
            <a:pPr>
              <a:defRPr b="1" sz="1800"/>
            </a:pPr>
            <a:r>
              <a:t>Tools used: </a:t>
            </a:r>
            <a:r>
              <a:rPr b="0" sz="1600"/>
              <a:t>Git, GitHub, VS Code</a:t>
            </a:r>
          </a:p>
        </p:txBody>
      </p:sp>
      <p:pic>
        <p:nvPicPr>
          <p:cNvPr id="126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12534" y="6276004"/>
            <a:ext cx="1496136" cy="5819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defRPr b="1"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Problem Statement</a:t>
            </a:r>
          </a:p>
        </p:txBody>
      </p:sp>
      <p:sp>
        <p:nvSpPr>
          <p:cNvPr id="129" name="Content Placeholder 2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 sz="1800"/>
            </a:pPr>
            <a:r>
              <a:t>The Problem:</a:t>
            </a:r>
          </a:p>
          <a:p>
            <a:pPr>
              <a:defRPr sz="1600"/>
            </a:pPr>
            <a:r>
              <a:t>Educational institutions create and update course content regularly, but there is no structured system to track these changes, manage multiple versions, or allow safe collaboration between instructors.</a:t>
            </a:r>
          </a:p>
          <a:p>
            <a:pPr/>
            <a:endParaRPr sz="1600"/>
          </a:p>
          <a:p>
            <a:pPr>
              <a:defRPr b="1" sz="1600"/>
            </a:pPr>
            <a:r>
              <a:t>Specific Challenges:</a:t>
            </a:r>
          </a:p>
          <a:p>
            <a:pPr>
              <a:defRPr sz="1500"/>
            </a:pPr>
            <a:r>
              <a:t>- No way to see what changed between versions of a lesson</a:t>
            </a:r>
          </a:p>
          <a:p>
            <a:pPr>
              <a:defRPr sz="1500"/>
            </a:pPr>
            <a:r>
              <a:t>- Accidental overwrites with no way to recover old content</a:t>
            </a:r>
          </a:p>
          <a:p>
            <a:pPr>
              <a:defRPr sz="1500"/>
            </a:pPr>
            <a:r>
              <a:t>- Difficulty collaborating with multiple instructors</a:t>
            </a:r>
          </a:p>
          <a:p>
            <a:pPr>
              <a:defRPr sz="1500"/>
            </a:pPr>
            <a:r>
              <a:t>- No audit trail of who made which changes and when</a:t>
            </a:r>
          </a:p>
        </p:txBody>
      </p:sp>
      <p:pic>
        <p:nvPicPr>
          <p:cNvPr id="130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32853" y="6201876"/>
            <a:ext cx="1496136" cy="5819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defRPr b="1"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Objectives</a:t>
            </a:r>
          </a:p>
        </p:txBody>
      </p:sp>
      <p:sp>
        <p:nvSpPr>
          <p:cNvPr id="133" name="Content Placeholder 2"/>
          <p:cNvSpPr txBox="1"/>
          <p:nvPr>
            <p:ph type="body" idx="1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defRPr b="1" sz="1800"/>
            </a:pPr>
            <a:r>
              <a:t>Project Objectives:</a:t>
            </a:r>
          </a:p>
          <a:p>
            <a:pPr>
              <a:defRPr sz="1500"/>
            </a:pPr>
            <a:r>
              <a:t>1. Demonstrate how Git can be used to manage course content versions</a:t>
            </a:r>
          </a:p>
          <a:p>
            <a:pPr>
              <a:defRPr sz="1500"/>
            </a:pPr>
            <a:r>
              <a:t>2. Create a structured repository with modules, lessons, and a changelog</a:t>
            </a:r>
          </a:p>
          <a:p>
            <a:pPr>
              <a:defRPr sz="1500"/>
            </a:pPr>
            <a:r>
              <a:t>3. Apply core Git operations: init, add, commit, push, branch, merge</a:t>
            </a:r>
          </a:p>
          <a:p>
            <a:pPr>
              <a:defRPr sz="1500"/>
            </a:pPr>
            <a:r>
              <a:t>4. Use GitHub as a remote platform for hosting and collaboration</a:t>
            </a:r>
          </a:p>
          <a:p>
            <a:pPr>
              <a:defRPr sz="1500"/>
            </a:pPr>
            <a:r>
              <a:t>5. Show a meaningful commit history that reflects real content updates</a:t>
            </a:r>
          </a:p>
          <a:p>
            <a:pPr>
              <a:defRPr sz="1500"/>
            </a:pPr>
            <a:r>
              <a:t>6. Use branching to safely develop and merge new content features</a:t>
            </a:r>
          </a:p>
        </p:txBody>
      </p:sp>
      <p:pic>
        <p:nvPicPr>
          <p:cNvPr id="134" name="Picture 5" descr="Picture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12534" y="6176962"/>
            <a:ext cx="1496136" cy="5819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defRPr b="1"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Research Methodology </a:t>
            </a:r>
          </a:p>
        </p:txBody>
      </p:sp>
      <p:sp>
        <p:nvSpPr>
          <p:cNvPr id="137" name="Content Placeholder 2"/>
          <p:cNvSpPr txBox="1"/>
          <p:nvPr>
            <p:ph type="body" idx="1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defRPr b="1" sz="1800"/>
            </a:pPr>
            <a:r>
              <a:t>How we built this project:</a:t>
            </a:r>
          </a:p>
          <a:p>
            <a:pPr/>
            <a:endParaRPr b="1" sz="1800"/>
          </a:p>
          <a:p>
            <a:pPr>
              <a:defRPr b="1" sz="1600"/>
            </a:pPr>
            <a:r>
              <a:t>Phase 1 - Setup: </a:t>
            </a:r>
            <a:r>
              <a:rPr b="0" sz="1500"/>
              <a:t>Installed Git, created GitHub repository, configured user settings</a:t>
            </a:r>
            <a:endParaRPr sz="1500"/>
          </a:p>
          <a:p>
            <a:pPr>
              <a:defRPr b="1" sz="1600"/>
            </a:pPr>
            <a:r>
              <a:t>Phase 2 - Structure: </a:t>
            </a:r>
            <a:r>
              <a:rPr b="0" sz="1500"/>
              <a:t>Designed hierarchy with courses, modules, lessons, and changelog</a:t>
            </a:r>
            <a:endParaRPr sz="1500"/>
          </a:p>
          <a:p>
            <a:pPr>
              <a:defRPr b="1" sz="1600"/>
            </a:pPr>
            <a:r>
              <a:t>Phase 3 - Content: </a:t>
            </a:r>
            <a:r>
              <a:rPr b="0" sz="1500"/>
              <a:t>Created Markdown lesson files for some modules</a:t>
            </a:r>
            <a:endParaRPr sz="1500"/>
          </a:p>
          <a:p>
            <a:pPr>
              <a:defRPr b="1" sz="1600"/>
            </a:pPr>
            <a:r>
              <a:t>Phase 4 - Version Control: </a:t>
            </a:r>
            <a:r>
              <a:rPr b="0" sz="1500"/>
              <a:t>Committed changes regularly, created feature branches, merged to main</a:t>
            </a:r>
            <a:endParaRPr sz="1500"/>
          </a:p>
          <a:p>
            <a:pPr>
              <a:defRPr b="1" sz="1600"/>
            </a:pPr>
            <a:r>
              <a:t>Phase 5 - Collaboration: </a:t>
            </a:r>
            <a:r>
              <a:rPr b="0" sz="1500"/>
              <a:t>Pushed to GitHub, verified public repository with full commit history</a:t>
            </a:r>
          </a:p>
        </p:txBody>
      </p:sp>
      <p:pic>
        <p:nvPicPr>
          <p:cNvPr id="13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22694" y="6201876"/>
            <a:ext cx="1496136" cy="5819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itle 1"/>
          <p:cNvSpPr txBox="1"/>
          <p:nvPr>
            <p:ph type="title"/>
          </p:nvPr>
        </p:nvSpPr>
        <p:spPr>
          <a:xfrm>
            <a:off x="-262649" y="309277"/>
            <a:ext cx="12192003" cy="564912"/>
          </a:xfrm>
          <a:prstGeom prst="rect">
            <a:avLst/>
          </a:prstGeom>
        </p:spPr>
        <p:txBody>
          <a:bodyPr/>
          <a:lstStyle>
            <a:lvl1pPr>
              <a:defRPr b="1" sz="3200">
                <a:solidFill>
                  <a:srgbClr val="000000"/>
                </a:solidFill>
              </a:defRPr>
            </a:lvl1pPr>
          </a:lstStyle>
          <a:p>
            <a:pPr/>
            <a:r>
              <a:t>PERT Chart</a:t>
            </a:r>
          </a:p>
        </p:txBody>
      </p:sp>
      <p:graphicFrame>
        <p:nvGraphicFramePr>
          <p:cNvPr id="141" name="Table 2"/>
          <p:cNvGraphicFramePr/>
          <p:nvPr/>
        </p:nvGraphicFramePr>
        <p:xfrm>
          <a:off x="5673773" y="4164326"/>
          <a:ext cx="1699793" cy="183864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699791"/>
              </a:tblGrid>
              <a:tr h="3068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sym typeface="Helvetica"/>
                        </a:rPr>
                        <a:t>     Publish report 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</a:tcPr>
                </a:tc>
              </a:tr>
              <a:tr h="3068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 Duration: 1 day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293689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Start date: Feb 13, 2026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30685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End date: Feb 13, 2026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62439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Assigned to: Group 9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</a:tbl>
          </a:graphicData>
        </a:graphic>
      </p:graphicFrame>
      <p:graphicFrame>
        <p:nvGraphicFramePr>
          <p:cNvPr id="142" name="Table 3"/>
          <p:cNvGraphicFramePr/>
          <p:nvPr/>
        </p:nvGraphicFramePr>
        <p:xfrm>
          <a:off x="8385106" y="4164326"/>
          <a:ext cx="1618000" cy="1838644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617999"/>
              </a:tblGrid>
              <a:tr h="311756">
                <a:tc>
                  <a:txBody>
                    <a:bodyPr/>
                    <a:lstStyle/>
                    <a:p>
                      <a:pPr marL="339725" indent="-339725" algn="l">
                        <a:lnSpc>
                          <a:spcPct val="107000"/>
                        </a:lnSpc>
                        <a:defRPr sz="1000">
                          <a:sym typeface="Helvetica"/>
                        </a:defRPr>
                      </a:pPr>
                      <a:r>
                        <a:t>           </a:t>
                      </a:r>
                      <a:r>
                        <a:rPr sz="1400"/>
                        <a:t>Testing &amp; Debugging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</a:tcPr>
                </a:tc>
              </a:tr>
              <a:tr h="31175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Duration: 2 days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29820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Start date: Feb 11, 2026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31175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End date: Feb 12, 2026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605173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Assigned to: Group 9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</a:tbl>
          </a:graphicData>
        </a:graphic>
      </p:graphicFrame>
      <p:graphicFrame>
        <p:nvGraphicFramePr>
          <p:cNvPr id="143" name="Table 4"/>
          <p:cNvGraphicFramePr/>
          <p:nvPr/>
        </p:nvGraphicFramePr>
        <p:xfrm>
          <a:off x="8380445" y="1626353"/>
          <a:ext cx="1622661" cy="183669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622659"/>
              </a:tblGrid>
              <a:tr h="306527">
                <a:tc>
                  <a:txBody>
                    <a:bodyPr/>
                    <a:lstStyle/>
                    <a:p>
                      <a:pPr marL="174625" indent="-174625" algn="l">
                        <a:lnSpc>
                          <a:spcPct val="1070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sym typeface="Helvetica"/>
                        </a:rPr>
                        <a:t>        Coding &amp; Implementation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</a:tcPr>
                </a:tc>
              </a:tr>
              <a:tr h="30652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Duration: 3 days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293378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Start date: Feb 8, 2026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30652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End date: Feb 10, 2026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623736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Assigned to: Payal Yadav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</a:tbl>
          </a:graphicData>
        </a:graphic>
      </p:graphicFrame>
      <p:graphicFrame>
        <p:nvGraphicFramePr>
          <p:cNvPr id="144" name="Table 5"/>
          <p:cNvGraphicFramePr/>
          <p:nvPr/>
        </p:nvGraphicFramePr>
        <p:xfrm>
          <a:off x="5638055" y="1626353"/>
          <a:ext cx="1735511" cy="190479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735509"/>
              </a:tblGrid>
              <a:tr h="31789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sym typeface="Helvetica"/>
                        </a:rPr>
                        <a:t>Project Design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</a:tcPr>
                </a:tc>
              </a:tr>
              <a:tr h="31789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Duration: 2 days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304255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Start date: Feb 6, 2026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31789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End date: Feb 7, 2026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64686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Assigned to: Payal Yadav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</a:tbl>
          </a:graphicData>
        </a:graphic>
      </p:graphicFrame>
      <p:graphicFrame>
        <p:nvGraphicFramePr>
          <p:cNvPr id="145" name="Table 6"/>
          <p:cNvGraphicFramePr/>
          <p:nvPr/>
        </p:nvGraphicFramePr>
        <p:xfrm>
          <a:off x="2988804" y="1626353"/>
          <a:ext cx="1671641" cy="191751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0" rtl="0">
                <a:tableStyleId>{4C3C2611-4C71-4FC5-86AE-919BDF0F9419}</a:tableStyleId>
              </a:tblPr>
              <a:tblGrid>
                <a:gridCol w="1671638"/>
              </a:tblGrid>
              <a:tr h="32001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400">
                          <a:solidFill>
                            <a:srgbClr val="FFFFFF"/>
                          </a:solidFill>
                          <a:sym typeface="Helvetica"/>
                        </a:rPr>
                        <a:t>     Study period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</a:tcPr>
                </a:tc>
              </a:tr>
              <a:tr h="32001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Duration: 2 days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306287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Start date: Feb 4, 2026 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320014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End date: Feb 5, 2026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  <a:tr h="651181"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defRPr sz="1800"/>
                      </a:pPr>
                      <a:r>
                        <a:rPr b="1" sz="1000">
                          <a:sym typeface="Helvetica"/>
                        </a:rPr>
                        <a:t>Assigned to: Group 9</a:t>
                      </a:r>
                    </a:p>
                  </a:txBody>
                  <a:tcPr marL="0" marR="0" marT="0" marB="0" anchor="t" anchorCtr="0" horzOverflow="overflow">
                    <a:lnL w="6350">
                      <a:solidFill>
                        <a:srgbClr val="000000"/>
                      </a:solidFill>
                      <a:miter/>
                    </a:lnL>
                    <a:lnR w="6350">
                      <a:solidFill>
                        <a:srgbClr val="000000"/>
                      </a:solidFill>
                      <a:miter/>
                    </a:lnR>
                    <a:lnT w="6350">
                      <a:solidFill>
                        <a:srgbClr val="000000"/>
                      </a:solidFill>
                      <a:miter/>
                    </a:lnT>
                    <a:lnB w="6350">
                      <a:solidFill>
                        <a:srgbClr val="000000"/>
                      </a:solidFill>
                      <a:miter/>
                    </a:lnB>
                  </a:tcPr>
                </a:tc>
              </a:tr>
            </a:tbl>
          </a:graphicData>
        </a:graphic>
      </p:graphicFrame>
      <p:grpSp>
        <p:nvGrpSpPr>
          <p:cNvPr id="148" name="Oval 7"/>
          <p:cNvGrpSpPr/>
          <p:nvPr/>
        </p:nvGrpSpPr>
        <p:grpSpPr>
          <a:xfrm>
            <a:off x="3899475" y="4844284"/>
            <a:ext cx="815979" cy="412753"/>
            <a:chOff x="0" y="0"/>
            <a:chExt cx="815978" cy="412751"/>
          </a:xfrm>
        </p:grpSpPr>
        <p:sp>
          <p:nvSpPr>
            <p:cNvPr id="146" name="Oval"/>
            <p:cNvSpPr/>
            <p:nvPr/>
          </p:nvSpPr>
          <p:spPr>
            <a:xfrm>
              <a:off x="0" y="0"/>
              <a:ext cx="815979" cy="412752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lnSpc>
                  <a:spcPct val="107000"/>
                </a:lnSpc>
                <a:spcBef>
                  <a:spcPts val="800"/>
                </a:spcBef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47" name="End"/>
            <p:cNvSpPr txBox="1"/>
            <p:nvPr/>
          </p:nvSpPr>
          <p:spPr>
            <a:xfrm>
              <a:off x="171566" y="93521"/>
              <a:ext cx="472845" cy="2257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lnSpc>
                  <a:spcPct val="107000"/>
                </a:lnSpc>
                <a:spcBef>
                  <a:spcPts val="800"/>
                </a:spcBef>
                <a:defRPr sz="11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End</a:t>
              </a:r>
            </a:p>
          </p:txBody>
        </p:sp>
      </p:grpSp>
      <p:sp>
        <p:nvSpPr>
          <p:cNvPr id="149" name="Right Arrow 9"/>
          <p:cNvSpPr/>
          <p:nvPr/>
        </p:nvSpPr>
        <p:spPr>
          <a:xfrm flipH="1" flipV="1">
            <a:off x="7877749" y="4900297"/>
            <a:ext cx="320677" cy="26670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0" name="Right Arrow 10"/>
          <p:cNvSpPr/>
          <p:nvPr/>
        </p:nvSpPr>
        <p:spPr>
          <a:xfrm flipH="1" flipV="1">
            <a:off x="4976167" y="4900297"/>
            <a:ext cx="320677" cy="26670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1" name="Right Arrow 11"/>
          <p:cNvSpPr/>
          <p:nvPr/>
        </p:nvSpPr>
        <p:spPr>
          <a:xfrm flipH="1" flipV="1" rot="16200000">
            <a:off x="8849299" y="3755744"/>
            <a:ext cx="320677" cy="26670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2" name="Rectangle 7"/>
          <p:cNvSpPr txBox="1"/>
          <p:nvPr/>
        </p:nvSpPr>
        <p:spPr>
          <a:xfrm>
            <a:off x="277915" y="1657302"/>
            <a:ext cx="1526539" cy="5019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 anchor="ctr">
            <a:spAutoFit/>
          </a:bodyPr>
          <a:lstStyle/>
          <a:p>
            <a:pPr>
              <a:defRPr sz="12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</a:t>
            </a:r>
            <a:endParaRPr sz="800">
              <a:latin typeface="Arial"/>
              <a:ea typeface="Arial"/>
              <a:cs typeface="Arial"/>
              <a:sym typeface="Arial"/>
            </a:endParaRPr>
          </a:p>
          <a:p>
            <a:pPr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                   </a:t>
            </a:r>
          </a:p>
        </p:txBody>
      </p:sp>
      <p:sp>
        <p:nvSpPr>
          <p:cNvPr id="153" name="Rectangle 8"/>
          <p:cNvSpPr txBox="1"/>
          <p:nvPr/>
        </p:nvSpPr>
        <p:spPr>
          <a:xfrm>
            <a:off x="2959356" y="2036386"/>
            <a:ext cx="612139" cy="3114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 anchor="ctr">
            <a:spAutoFit/>
          </a:bodyPr>
          <a:lstStyle>
            <a:lvl1pPr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lvl1pPr>
          </a:lstStyle>
          <a:p>
            <a:pPr/>
            <a:r>
              <a:t>          </a:t>
            </a:r>
          </a:p>
        </p:txBody>
      </p:sp>
      <p:sp>
        <p:nvSpPr>
          <p:cNvPr id="154" name="Rectangle 10"/>
          <p:cNvSpPr txBox="1"/>
          <p:nvPr/>
        </p:nvSpPr>
        <p:spPr>
          <a:xfrm>
            <a:off x="2959356" y="2379287"/>
            <a:ext cx="561339" cy="540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 anchor="ctr">
            <a:spAutoFit/>
          </a:bodyPr>
          <a:lstStyle/>
          <a:p>
            <a:pPr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>
              <a:defRPr b="1" sz="1600">
                <a:latin typeface="Times New Roman"/>
                <a:ea typeface="Times New Roman"/>
                <a:cs typeface="Times New Roman"/>
                <a:sym typeface="Times New Roman"/>
              </a:defRPr>
            </a:pPr>
            <a:r>
              <a:t>         </a:t>
            </a:r>
          </a:p>
        </p:txBody>
      </p:sp>
      <p:grpSp>
        <p:nvGrpSpPr>
          <p:cNvPr id="157" name="Oval 30"/>
          <p:cNvGrpSpPr/>
          <p:nvPr/>
        </p:nvGrpSpPr>
        <p:grpSpPr>
          <a:xfrm>
            <a:off x="1445167" y="2224896"/>
            <a:ext cx="815979" cy="412753"/>
            <a:chOff x="0" y="0"/>
            <a:chExt cx="815978" cy="412751"/>
          </a:xfrm>
        </p:grpSpPr>
        <p:sp>
          <p:nvSpPr>
            <p:cNvPr id="155" name="Oval"/>
            <p:cNvSpPr/>
            <p:nvPr/>
          </p:nvSpPr>
          <p:spPr>
            <a:xfrm>
              <a:off x="0" y="0"/>
              <a:ext cx="815979" cy="412752"/>
            </a:xfrm>
            <a:prstGeom prst="ellipse">
              <a:avLst/>
            </a:prstGeom>
            <a:solidFill>
              <a:srgbClr val="FFFFFF"/>
            </a:solidFill>
            <a:ln w="12700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lnSpc>
                  <a:spcPct val="107000"/>
                </a:lnSpc>
                <a:spcBef>
                  <a:spcPts val="800"/>
                </a:spcBef>
                <a:defRPr sz="1100"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56" name="Start"/>
            <p:cNvSpPr txBox="1"/>
            <p:nvPr/>
          </p:nvSpPr>
          <p:spPr>
            <a:xfrm>
              <a:off x="171566" y="93521"/>
              <a:ext cx="472845" cy="22570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lnSpc>
                  <a:spcPct val="107000"/>
                </a:lnSpc>
                <a:spcBef>
                  <a:spcPts val="800"/>
                </a:spcBef>
                <a:defRPr sz="1100"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Start</a:t>
              </a:r>
            </a:p>
          </p:txBody>
        </p:sp>
      </p:grpSp>
      <p:sp>
        <p:nvSpPr>
          <p:cNvPr id="158" name="Right Arrow 31"/>
          <p:cNvSpPr/>
          <p:nvPr/>
        </p:nvSpPr>
        <p:spPr>
          <a:xfrm flipV="1">
            <a:off x="5034603" y="2287341"/>
            <a:ext cx="295412" cy="266701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" name="Right Arrow 32"/>
          <p:cNvSpPr/>
          <p:nvPr/>
        </p:nvSpPr>
        <p:spPr>
          <a:xfrm flipV="1">
            <a:off x="7730042" y="2284221"/>
            <a:ext cx="295412" cy="26670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" name="Right Arrow 33"/>
          <p:cNvSpPr/>
          <p:nvPr/>
        </p:nvSpPr>
        <p:spPr>
          <a:xfrm flipV="1">
            <a:off x="2468731" y="2279279"/>
            <a:ext cx="295412" cy="26670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FFFFFF"/>
          </a:solidFill>
          <a:ln w="12700">
            <a:solidFill>
              <a:srgbClr val="000000"/>
            </a:solidFill>
            <a:miter/>
          </a:ln>
        </p:spPr>
        <p:txBody>
          <a:bodyPr lIns="45718" tIns="45718" rIns="45718" bIns="45718" anchor="ctr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61" name="Picture 8" descr="Picture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65299" y="6276004"/>
            <a:ext cx="1496136" cy="5819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itle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algn="ctr">
              <a:defRPr b="1" sz="3200"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References</a:t>
            </a:r>
          </a:p>
        </p:txBody>
      </p:sp>
      <p:sp>
        <p:nvSpPr>
          <p:cNvPr id="164" name="Content Placeholder 2"/>
          <p:cNvSpPr txBox="1"/>
          <p:nvPr>
            <p:ph type="body" idx="1"/>
          </p:nvPr>
        </p:nvSpPr>
        <p:spPr>
          <a:xfrm>
            <a:off x="838200" y="1690688"/>
            <a:ext cx="10515600" cy="4351338"/>
          </a:xfrm>
          <a:prstGeom prst="rect">
            <a:avLst/>
          </a:prstGeom>
        </p:spPr>
        <p:txBody>
          <a:bodyPr/>
          <a:lstStyle/>
          <a:p>
            <a:pPr>
              <a:defRPr b="1" sz="1600"/>
            </a:pPr>
            <a:r>
              <a:t>Books &amp; Documentation:</a:t>
            </a:r>
          </a:p>
          <a:p>
            <a:pPr>
              <a:defRPr sz="1500"/>
            </a:pPr>
            <a:r>
              <a:t>1. Chacon, S. &amp; Straub, B. - Pro Git (2nd Edition) - Apress, 2014</a:t>
            </a:r>
          </a:p>
          <a:p>
            <a:pPr>
              <a:defRPr sz="1500"/>
            </a:pPr>
            <a:r>
              <a:t>2. Official Git Documentation - https://git-scm.com/doc</a:t>
            </a:r>
          </a:p>
          <a:p>
            <a:pPr>
              <a:defRPr sz="1500"/>
            </a:pPr>
            <a:r>
              <a:t>3. GitHub Docs - https://docs.github.com</a:t>
            </a:r>
          </a:p>
          <a:p>
            <a:pPr/>
            <a:endParaRPr sz="1500"/>
          </a:p>
          <a:p>
            <a:pPr>
              <a:defRPr b="1" sz="1600"/>
            </a:pPr>
            <a:r>
              <a:t>Online Resources:</a:t>
            </a:r>
          </a:p>
          <a:p>
            <a:pPr>
              <a:defRPr sz="1500"/>
            </a:pPr>
            <a:r>
              <a:t>4. Atlassian Git Tutorials - https://www.atlassian.com/git/tutorials</a:t>
            </a:r>
          </a:p>
          <a:p>
            <a:pPr>
              <a:defRPr sz="1500"/>
            </a:pPr>
            <a:r>
              <a:t>5. W3Schools Git Tutorial - https://www.w3schools.com/git</a:t>
            </a:r>
          </a:p>
          <a:p>
            <a:pPr>
              <a:defRPr sz="1500"/>
            </a:pPr>
            <a:r>
              <a:t>6. Project Repository - https://github.com/nitinyi/vcs-project.git</a:t>
            </a:r>
          </a:p>
        </p:txBody>
      </p:sp>
      <p:pic>
        <p:nvPicPr>
          <p:cNvPr id="165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420350" y="6201876"/>
            <a:ext cx="1496136" cy="5819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itle 1"/>
          <p:cNvSpPr txBox="1"/>
          <p:nvPr>
            <p:ph type="ctrTitle"/>
          </p:nvPr>
        </p:nvSpPr>
        <p:spPr>
          <a:xfrm>
            <a:off x="1524000" y="1864043"/>
            <a:ext cx="9144000" cy="2387601"/>
          </a:xfrm>
          <a:prstGeom prst="rect">
            <a:avLst/>
          </a:prstGeom>
        </p:spPr>
        <p:txBody>
          <a:bodyPr/>
          <a:lstStyle>
            <a:lvl1pPr>
              <a:defRPr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Thankyou</a:t>
            </a:r>
          </a:p>
        </p:txBody>
      </p:sp>
      <p:pic>
        <p:nvPicPr>
          <p:cNvPr id="168" name="Picture 3" descr="Picture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0566400" y="6259326"/>
            <a:ext cx="1496134" cy="58199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